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embeddedFontLst>
    <p:embeddedFont>
      <p:font typeface="Inter" panose="020B0604020202020204" charset="0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AR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A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A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A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AR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AR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AR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AR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AR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AR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AR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AR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A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s-AR"/>
          </a:p>
        </p:txBody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25" y="9525"/>
            <a:ext cx="12172950" cy="683895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305276" y="2251769"/>
            <a:ext cx="11581447" cy="754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Curso Git + GitHub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81025" y="3310830"/>
            <a:ext cx="110299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Control de Versiones para Desarrolladores</a:t>
            </a:r>
            <a:endParaRPr/>
          </a:p>
        </p:txBody>
      </p:sp>
      <p:pic>
        <p:nvPicPr>
          <p:cNvPr id="87" name="Google Shape;87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543550" y="4149030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00775" y="4149030"/>
            <a:ext cx="447675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FB0CBB39-C274-D0A3-4ADB-F1C7DF46378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18084" y="5727374"/>
            <a:ext cx="1886213" cy="95263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96000" y="9525"/>
            <a:ext cx="6086475" cy="683895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771525" y="1556444"/>
            <a:ext cx="4790598" cy="117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Máquina del Tiempo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771525" y="3244155"/>
            <a:ext cx="456247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Git guarda "puntos de control" (snapshots) de tu proyecto.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771525" y="4387155"/>
            <a:ext cx="45624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Si algo sale mal, </a:t>
            </a:r>
            <a:r>
              <a:rPr lang="en-US" sz="1800" b="0" i="0" u="none" strike="noStrike" cap="none" dirty="0" err="1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siempre</a:t>
            </a:r>
            <a:r>
              <a:rPr lang="en-US" sz="1800" b="0" i="0" u="none" strike="noStrike" cap="none" dirty="0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 dirty="0" err="1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podés</a:t>
            </a:r>
            <a:r>
              <a:rPr lang="en-US" sz="1800" dirty="0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 b="0" i="0" u="none" strike="noStrike" cap="none" dirty="0" err="1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volver</a:t>
            </a:r>
            <a:r>
              <a:rPr lang="en-US" sz="1800" b="0" i="0" u="none" strike="noStrike" cap="none" dirty="0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 b="0" i="0" u="none" strike="noStrike" cap="none" dirty="0" err="1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atrás</a:t>
            </a:r>
            <a:r>
              <a:rPr lang="en-US" sz="1800" b="0" i="0" u="none" strike="noStrike" cap="none" dirty="0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59967" y="1483966"/>
            <a:ext cx="4551008" cy="42486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969865"/>
            <a:ext cx="5229225" cy="752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5143351"/>
            <a:ext cx="5229225" cy="752475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5"/>
          <p:cNvSpPr txBox="1"/>
          <p:nvPr/>
        </p:nvSpPr>
        <p:spPr>
          <a:xfrm>
            <a:off x="581025" y="581025"/>
            <a:ext cx="11581447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Fundamentos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581025" y="1834604"/>
            <a:ext cx="5490686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58A6FF"/>
                </a:solidFill>
                <a:latin typeface="Inter"/>
                <a:ea typeface="Inter"/>
                <a:cs typeface="Inter"/>
                <a:sym typeface="Inter"/>
              </a:rPr>
              <a:t>1. Preparar (Staging)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581024" y="2398365"/>
            <a:ext cx="6240399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Elegir </a:t>
            </a:r>
            <a:r>
              <a:rPr lang="en-US" sz="1800" b="0" i="0" u="none" strike="noStrike" cap="none" dirty="0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qué cambios vas a guardar e incluírlos en el stage.</a:t>
            </a:r>
            <a:endParaRPr dirty="0"/>
          </a:p>
        </p:txBody>
      </p:sp>
      <p:sp>
        <p:nvSpPr>
          <p:cNvPr id="107" name="Google Shape;107;p15"/>
          <p:cNvSpPr txBox="1"/>
          <p:nvPr/>
        </p:nvSpPr>
        <p:spPr>
          <a:xfrm>
            <a:off x="581025" y="4008090"/>
            <a:ext cx="5490686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238636"/>
                </a:solidFill>
                <a:latin typeface="Inter"/>
                <a:ea typeface="Inter"/>
                <a:cs typeface="Inter"/>
                <a:sym typeface="Inter"/>
              </a:rPr>
              <a:t>2. Guardar (Commit)</a:t>
            </a:r>
            <a:endParaRPr dirty="0"/>
          </a:p>
        </p:txBody>
      </p:sp>
      <p:sp>
        <p:nvSpPr>
          <p:cNvPr id="108" name="Google Shape;108;p15"/>
          <p:cNvSpPr txBox="1"/>
          <p:nvPr/>
        </p:nvSpPr>
        <p:spPr>
          <a:xfrm>
            <a:off x="581025" y="4571851"/>
            <a:ext cx="52293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Empaquetar los cambios con un mensaje.</a:t>
            </a:r>
            <a:endParaRPr dirty="0"/>
          </a:p>
        </p:txBody>
      </p:sp>
      <p:pic>
        <p:nvPicPr>
          <p:cNvPr id="109" name="Google Shape;109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059168" y="1493490"/>
            <a:ext cx="4542282" cy="4239798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6F90C3F8-5353-CD56-4E6C-E6BB80BD6C2C}"/>
              </a:ext>
            </a:extLst>
          </p:cNvPr>
          <p:cNvSpPr txBox="1"/>
          <p:nvPr/>
        </p:nvSpPr>
        <p:spPr>
          <a:xfrm>
            <a:off x="590550" y="5992966"/>
            <a:ext cx="5791200" cy="7003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b="0" i="0" u="none" strike="noStrike" cap="none" dirty="0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* Con git restore podes deshacer cambios realizados en tus archivos, y con git restore --staged podes sacarlos del stage</a:t>
            </a:r>
            <a:r>
              <a:rPr lang="es-ES" dirty="0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lang="es-E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00975" y="1960215"/>
            <a:ext cx="381000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4342358"/>
            <a:ext cx="6743700" cy="752475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6"/>
          <p:cNvSpPr txBox="1"/>
          <p:nvPr/>
        </p:nvSpPr>
        <p:spPr>
          <a:xfrm>
            <a:off x="581025" y="581025"/>
            <a:ext cx="11581447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Tu Historial</a:t>
            </a:r>
            <a:endParaRPr/>
          </a:p>
        </p:txBody>
      </p:sp>
      <p:sp>
        <p:nvSpPr>
          <p:cNvPr id="117" name="Google Shape;117;p16"/>
          <p:cNvSpPr txBox="1"/>
          <p:nvPr/>
        </p:nvSpPr>
        <p:spPr>
          <a:xfrm>
            <a:off x="581025" y="2635597"/>
            <a:ext cx="7080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 err="1">
                <a:solidFill>
                  <a:srgbClr val="58A6FF"/>
                </a:solidFill>
                <a:latin typeface="Inter"/>
                <a:ea typeface="Inter"/>
                <a:cs typeface="Inter"/>
                <a:sym typeface="Inter"/>
              </a:rPr>
              <a:t>Bitácora</a:t>
            </a:r>
            <a:r>
              <a:rPr lang="en-US" sz="2400" b="1" i="0" u="none" strike="noStrike" cap="none" dirty="0">
                <a:solidFill>
                  <a:srgbClr val="58A6FF"/>
                </a:solidFill>
                <a:latin typeface="Inter"/>
                <a:ea typeface="Inter"/>
                <a:cs typeface="Inter"/>
                <a:sym typeface="Inter"/>
              </a:rPr>
              <a:t> de cam</a:t>
            </a:r>
            <a:r>
              <a:rPr lang="en-US" sz="2400" b="1" dirty="0">
                <a:solidFill>
                  <a:srgbClr val="58A6FF"/>
                </a:solidFill>
                <a:latin typeface="Inter"/>
                <a:ea typeface="Inter"/>
                <a:cs typeface="Inter"/>
                <a:sym typeface="Inter"/>
              </a:rPr>
              <a:t>bios</a:t>
            </a:r>
            <a:endParaRPr dirty="0"/>
          </a:p>
        </p:txBody>
      </p:sp>
      <p:sp>
        <p:nvSpPr>
          <p:cNvPr id="118" name="Google Shape;118;p16"/>
          <p:cNvSpPr txBox="1"/>
          <p:nvPr/>
        </p:nvSpPr>
        <p:spPr>
          <a:xfrm>
            <a:off x="581025" y="3199358"/>
            <a:ext cx="67437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Revis</a:t>
            </a:r>
            <a:r>
              <a:rPr lang="en-US" sz="1800" dirty="0" err="1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á</a:t>
            </a:r>
            <a:r>
              <a:rPr lang="en-US" sz="1800" b="0" i="0" u="none" strike="noStrike" cap="none" dirty="0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 b="0" i="0" u="none" strike="noStrike" cap="none" dirty="0" err="1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todos</a:t>
            </a:r>
            <a:r>
              <a:rPr lang="en-US" sz="1800" b="0" i="0" u="none" strike="noStrike" cap="none" dirty="0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 los cambios </a:t>
            </a:r>
            <a:r>
              <a:rPr lang="en-US" sz="1800" b="0" i="0" u="none" strike="noStrike" cap="none" dirty="0" err="1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realizados</a:t>
            </a:r>
            <a:r>
              <a:rPr lang="en-US" sz="1800" b="0" i="0" u="none" strike="noStrike" cap="none" dirty="0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 en el </a:t>
            </a:r>
            <a:r>
              <a:rPr lang="en-US" sz="1800" b="0" i="0" u="none" strike="noStrike" cap="none" dirty="0" err="1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proyecto</a:t>
            </a:r>
            <a:r>
              <a:rPr lang="en-US" sz="1800" b="0" i="0" u="none" strike="noStrike" cap="none" dirty="0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sp>
        <p:nvSpPr>
          <p:cNvPr id="119" name="Google Shape;119;p16"/>
          <p:cNvSpPr txBox="1"/>
          <p:nvPr/>
        </p:nvSpPr>
        <p:spPr>
          <a:xfrm>
            <a:off x="581025" y="3770858"/>
            <a:ext cx="67437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Cada "commit" tiene un ID único (hash).</a:t>
            </a:r>
            <a:endParaRPr/>
          </a:p>
        </p:txBody>
      </p:sp>
      <p:pic>
        <p:nvPicPr>
          <p:cNvPr id="120" name="Google Shape;120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839075" y="1998315"/>
            <a:ext cx="3733800" cy="3733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1525" y="3703831"/>
            <a:ext cx="4562475" cy="752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9525"/>
            <a:ext cx="6086475" cy="683895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7"/>
          <p:cNvSpPr txBox="1"/>
          <p:nvPr/>
        </p:nvSpPr>
        <p:spPr>
          <a:xfrm>
            <a:off x="771525" y="1084957"/>
            <a:ext cx="4790598" cy="117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Ramas (Branches)</a:t>
            </a:r>
            <a:endParaRPr/>
          </a:p>
        </p:txBody>
      </p:sp>
      <p:sp>
        <p:nvSpPr>
          <p:cNvPr id="129" name="Google Shape;129;p17"/>
          <p:cNvSpPr txBox="1"/>
          <p:nvPr/>
        </p:nvSpPr>
        <p:spPr>
          <a:xfrm>
            <a:off x="771525" y="2598931"/>
            <a:ext cx="45624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Trabaj</a:t>
            </a:r>
            <a:r>
              <a:rPr lang="en-US" sz="1800" dirty="0" err="1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á</a:t>
            </a:r>
            <a:r>
              <a:rPr lang="en-US" sz="1800" b="0" i="0" u="none" strike="noStrike" cap="none" dirty="0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 en </a:t>
            </a:r>
            <a:r>
              <a:rPr lang="en-US" sz="1800" b="0" i="0" u="none" strike="noStrike" cap="none" dirty="0" err="1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nuevas</a:t>
            </a:r>
            <a:r>
              <a:rPr lang="en-US" sz="1800" b="0" i="0" u="none" strike="noStrike" cap="none" dirty="0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 b="0" i="0" u="none" strike="noStrike" cap="none" dirty="0" err="1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funciones</a:t>
            </a:r>
            <a:r>
              <a:rPr lang="en-US" sz="1800" b="0" i="0" u="none" strike="noStrike" cap="none" dirty="0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 sin romper el </a:t>
            </a:r>
            <a:r>
              <a:rPr lang="en-US" sz="1800" b="0" i="0" u="none" strike="noStrike" cap="none" dirty="0" err="1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código</a:t>
            </a:r>
            <a:r>
              <a:rPr lang="en-US" sz="1800" b="0" i="0" u="none" strike="noStrike" cap="none" dirty="0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 principal.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81750" y="1483965"/>
            <a:ext cx="5229225" cy="476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3966120"/>
            <a:ext cx="5229225" cy="752475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8"/>
          <p:cNvSpPr txBox="1"/>
          <p:nvPr/>
        </p:nvSpPr>
        <p:spPr>
          <a:xfrm>
            <a:off x="581025" y="581025"/>
            <a:ext cx="11581447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Navegación</a:t>
            </a:r>
            <a:endParaRPr/>
          </a:p>
        </p:txBody>
      </p:sp>
      <p:sp>
        <p:nvSpPr>
          <p:cNvPr id="137" name="Google Shape;137;p18"/>
          <p:cNvSpPr txBox="1"/>
          <p:nvPr/>
        </p:nvSpPr>
        <p:spPr>
          <a:xfrm>
            <a:off x="581025" y="2487959"/>
            <a:ext cx="5490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58A6FF"/>
                </a:solidFill>
                <a:latin typeface="Inter"/>
                <a:ea typeface="Inter"/>
                <a:cs typeface="Inter"/>
                <a:sym typeface="Inter"/>
              </a:rPr>
              <a:t>Cambio de </a:t>
            </a:r>
            <a:r>
              <a:rPr lang="en-US" sz="2400" b="1">
                <a:solidFill>
                  <a:srgbClr val="58A6FF"/>
                </a:solidFill>
                <a:latin typeface="Inter"/>
                <a:ea typeface="Inter"/>
                <a:cs typeface="Inter"/>
                <a:sym typeface="Inter"/>
              </a:rPr>
              <a:t>foco</a:t>
            </a:r>
            <a:endParaRPr/>
          </a:p>
        </p:txBody>
      </p:sp>
      <p:sp>
        <p:nvSpPr>
          <p:cNvPr id="138" name="Google Shape;138;p18"/>
          <p:cNvSpPr txBox="1"/>
          <p:nvPr/>
        </p:nvSpPr>
        <p:spPr>
          <a:xfrm>
            <a:off x="581025" y="3051720"/>
            <a:ext cx="52293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M</a:t>
            </a:r>
            <a:r>
              <a:rPr lang="en-US" sz="1800" dirty="0" err="1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ové</a:t>
            </a:r>
            <a:r>
              <a:rPr lang="en-US" sz="1800" b="0" i="0" u="none" strike="noStrike" cap="none" dirty="0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 b="0" i="0" u="none" strike="noStrike" cap="none" dirty="0" err="1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tu</a:t>
            </a:r>
            <a:r>
              <a:rPr lang="en-US" sz="1800" b="0" i="0" u="none" strike="noStrike" cap="none" dirty="0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 b="0" i="0" u="none" strike="noStrike" cap="none" dirty="0" err="1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atención</a:t>
            </a:r>
            <a:r>
              <a:rPr lang="en-US" sz="1800" b="0" i="0" u="none" strike="noStrike" cap="none" dirty="0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 a </a:t>
            </a:r>
            <a:r>
              <a:rPr lang="en-US" sz="1800" b="0" i="0" u="none" strike="noStrike" cap="none" dirty="0" err="1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otra</a:t>
            </a:r>
            <a:r>
              <a:rPr lang="en-US" sz="1800" b="0" i="0" u="none" strike="noStrike" cap="none" dirty="0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 b="0" i="0" u="none" strike="noStrike" cap="none" dirty="0" err="1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rama</a:t>
            </a:r>
            <a:r>
              <a:rPr lang="en-US" sz="1800" b="0" i="0" u="none" strike="noStrike" cap="none" dirty="0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 o a un punto anterior en la </a:t>
            </a:r>
            <a:r>
              <a:rPr lang="en-US" sz="1800" b="0" i="0" u="none" strike="noStrike" cap="none" dirty="0" err="1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historia</a:t>
            </a:r>
            <a:r>
              <a:rPr lang="en-US" sz="1800" b="0" i="0" u="none" strike="noStrike" cap="none" dirty="0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pic>
        <p:nvPicPr>
          <p:cNvPr id="139" name="Google Shape;139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91275" y="1493490"/>
            <a:ext cx="5210175" cy="4743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00975" y="1960215"/>
            <a:ext cx="381000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4228058"/>
            <a:ext cx="6743700" cy="752475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9"/>
          <p:cNvSpPr txBox="1"/>
          <p:nvPr/>
        </p:nvSpPr>
        <p:spPr>
          <a:xfrm>
            <a:off x="581025" y="581025"/>
            <a:ext cx="11581447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Integración</a:t>
            </a:r>
            <a:endParaRPr/>
          </a:p>
        </p:txBody>
      </p:sp>
      <p:sp>
        <p:nvSpPr>
          <p:cNvPr id="147" name="Google Shape;147;p19"/>
          <p:cNvSpPr txBox="1"/>
          <p:nvPr/>
        </p:nvSpPr>
        <p:spPr>
          <a:xfrm>
            <a:off x="581025" y="2749897"/>
            <a:ext cx="7080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58A6FF"/>
                </a:solidFill>
                <a:latin typeface="Inter"/>
                <a:ea typeface="Inter"/>
                <a:cs typeface="Inter"/>
                <a:sym typeface="Inter"/>
              </a:rPr>
              <a:t>Unir </a:t>
            </a:r>
            <a:r>
              <a:rPr lang="en-US" sz="2400" b="1">
                <a:solidFill>
                  <a:srgbClr val="58A6FF"/>
                </a:solidFill>
                <a:latin typeface="Inter"/>
                <a:ea typeface="Inter"/>
                <a:cs typeface="Inter"/>
                <a:sym typeface="Inter"/>
              </a:rPr>
              <a:t>c</a:t>
            </a:r>
            <a:r>
              <a:rPr lang="en-US" sz="2400" b="1" i="0" u="none" strike="noStrike" cap="none">
                <a:solidFill>
                  <a:srgbClr val="58A6FF"/>
                </a:solidFill>
                <a:latin typeface="Inter"/>
                <a:ea typeface="Inter"/>
                <a:cs typeface="Inter"/>
                <a:sym typeface="Inter"/>
              </a:rPr>
              <a:t>aminos (Merge)</a:t>
            </a:r>
            <a:endParaRPr/>
          </a:p>
        </p:txBody>
      </p:sp>
      <p:sp>
        <p:nvSpPr>
          <p:cNvPr id="148" name="Google Shape;148;p19"/>
          <p:cNvSpPr txBox="1"/>
          <p:nvPr/>
        </p:nvSpPr>
        <p:spPr>
          <a:xfrm>
            <a:off x="581025" y="3313658"/>
            <a:ext cx="67437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Fusion</a:t>
            </a:r>
            <a:r>
              <a:rPr lang="en-US" sz="1800" dirty="0" err="1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á</a:t>
            </a:r>
            <a:r>
              <a:rPr lang="en-US" sz="1800" b="0" i="0" u="none" strike="noStrike" cap="none" dirty="0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 los cambios de </a:t>
            </a:r>
            <a:r>
              <a:rPr lang="en-US" sz="1800" b="0" i="0" u="none" strike="noStrike" cap="none" dirty="0" err="1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una</a:t>
            </a:r>
            <a:r>
              <a:rPr lang="en-US" sz="1800" b="0" i="0" u="none" strike="noStrike" cap="none" dirty="0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 b="0" i="0" u="none" strike="noStrike" cap="none" dirty="0" err="1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rama</a:t>
            </a:r>
            <a:r>
              <a:rPr lang="en-US" sz="1800" b="0" i="0" u="none" strike="noStrike" cap="none" dirty="0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 experimental en </a:t>
            </a:r>
            <a:r>
              <a:rPr lang="en-US" sz="1800" b="0" i="0" u="none" strike="noStrike" cap="none" dirty="0" err="1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tu</a:t>
            </a:r>
            <a:r>
              <a:rPr lang="en-US" sz="1800" b="0" i="0" u="none" strike="noStrike" cap="none" dirty="0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 b="0" i="0" u="none" strike="noStrike" cap="none" dirty="0" err="1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rama</a:t>
            </a:r>
            <a:r>
              <a:rPr lang="en-US" sz="1800" b="0" i="0" u="none" strike="noStrike" cap="none" dirty="0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 principal.</a:t>
            </a:r>
            <a:endParaRPr dirty="0"/>
          </a:p>
        </p:txBody>
      </p:sp>
      <p:pic>
        <p:nvPicPr>
          <p:cNvPr id="149" name="Google Shape;149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839075" y="1998315"/>
            <a:ext cx="3733800" cy="3733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017365"/>
            <a:ext cx="11029950" cy="282312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20"/>
          <p:cNvSpPr txBox="1"/>
          <p:nvPr/>
        </p:nvSpPr>
        <p:spPr>
          <a:xfrm>
            <a:off x="915352" y="2407890"/>
            <a:ext cx="103614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El </a:t>
            </a:r>
            <a:r>
              <a:rPr lang="en-US" sz="4800" b="1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</a:t>
            </a:r>
            <a:r>
              <a:rPr lang="en-US" sz="4800" b="1" i="0" u="none" strike="noStrike" cap="none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epositorio</a:t>
            </a:r>
            <a:r>
              <a:rPr lang="en-US" sz="4800" b="1" i="0" u="none" strike="noStrike" cap="none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4800" b="1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</a:t>
            </a:r>
            <a:r>
              <a:rPr lang="en-US" sz="4800" b="1" i="0" u="none" strike="noStrike" cap="none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emoto</a:t>
            </a:r>
            <a:endParaRPr dirty="0"/>
          </a:p>
        </p:txBody>
      </p:sp>
      <p:sp>
        <p:nvSpPr>
          <p:cNvPr id="157" name="Google Shape;157;p20"/>
          <p:cNvSpPr txBox="1"/>
          <p:nvPr/>
        </p:nvSpPr>
        <p:spPr>
          <a:xfrm>
            <a:off x="1162050" y="3306960"/>
            <a:ext cx="98679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GitHub </a:t>
            </a:r>
            <a:r>
              <a:rPr lang="en-US" sz="1800" b="0" i="0" u="none" strike="noStrike" cap="none" dirty="0" err="1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actúa</a:t>
            </a:r>
            <a:r>
              <a:rPr lang="en-US" sz="1800" b="0" i="0" u="none" strike="noStrike" cap="none" dirty="0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 b="0" i="0" u="none" strike="noStrike" cap="none" dirty="0" err="1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como</a:t>
            </a:r>
            <a:r>
              <a:rPr lang="en-US" sz="1800" b="0" i="0" u="none" strike="noStrike" cap="none" dirty="0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 el </a:t>
            </a:r>
            <a:r>
              <a:rPr lang="en-US" sz="1800" b="0" i="0" u="none" strike="noStrike" cap="none" dirty="0" err="1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servidor</a:t>
            </a:r>
            <a:r>
              <a:rPr lang="en-US" sz="1800" b="0" i="0" u="none" strike="noStrike" cap="none" dirty="0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 central.</a:t>
            </a:r>
            <a:endParaRPr dirty="0"/>
          </a:p>
        </p:txBody>
      </p:sp>
      <p:sp>
        <p:nvSpPr>
          <p:cNvPr id="158" name="Google Shape;158;p20"/>
          <p:cNvSpPr txBox="1"/>
          <p:nvPr/>
        </p:nvSpPr>
        <p:spPr>
          <a:xfrm>
            <a:off x="1162050" y="3878460"/>
            <a:ext cx="98679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Permite</a:t>
            </a:r>
            <a:r>
              <a:rPr lang="en-US" sz="1800" b="0" i="0" u="none" strike="noStrike" cap="none" dirty="0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 la </a:t>
            </a:r>
            <a:r>
              <a:rPr lang="en-US" sz="1800" b="0" i="0" u="none" strike="noStrike" cap="none" dirty="0" err="1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colaboración</a:t>
            </a:r>
            <a:r>
              <a:rPr lang="en-US" sz="1800" b="0" i="0" u="none" strike="noStrike" cap="none" dirty="0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 y el </a:t>
            </a:r>
            <a:r>
              <a:rPr lang="en-US" sz="1800" b="0" i="0" u="none" strike="noStrike" cap="none" dirty="0" err="1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respaldo</a:t>
            </a:r>
            <a:r>
              <a:rPr lang="en-US" sz="1800" b="0" i="0" u="none" strike="noStrike" cap="none" dirty="0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 en la </a:t>
            </a:r>
            <a:r>
              <a:rPr lang="en-US" sz="1800" b="0" i="0" u="none" strike="noStrike" cap="none" dirty="0" err="1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nube</a:t>
            </a:r>
            <a:r>
              <a:rPr lang="en-US" sz="1800" b="0" i="0" u="none" strike="noStrike" cap="none" dirty="0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81750" y="4513808"/>
            <a:ext cx="5229225" cy="752475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21"/>
          <p:cNvSpPr txBox="1"/>
          <p:nvPr/>
        </p:nvSpPr>
        <p:spPr>
          <a:xfrm>
            <a:off x="581025" y="581025"/>
            <a:ext cx="11581447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Sincronizar: Bajar</a:t>
            </a:r>
            <a:endParaRPr/>
          </a:p>
        </p:txBody>
      </p:sp>
      <p:sp>
        <p:nvSpPr>
          <p:cNvPr id="165" name="Google Shape;165;p21"/>
          <p:cNvSpPr txBox="1"/>
          <p:nvPr/>
        </p:nvSpPr>
        <p:spPr>
          <a:xfrm>
            <a:off x="6381750" y="2464147"/>
            <a:ext cx="5490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58A6FF"/>
                </a:solidFill>
                <a:latin typeface="Inter"/>
                <a:ea typeface="Inter"/>
                <a:cs typeface="Inter"/>
                <a:sym typeface="Inter"/>
              </a:rPr>
              <a:t>Actual</a:t>
            </a:r>
            <a:r>
              <a:rPr lang="en-US" sz="2400" b="1">
                <a:solidFill>
                  <a:srgbClr val="58A6FF"/>
                </a:solidFill>
                <a:latin typeface="Inter"/>
                <a:ea typeface="Inter"/>
                <a:cs typeface="Inter"/>
                <a:sym typeface="Inter"/>
              </a:rPr>
              <a:t>i</a:t>
            </a:r>
            <a:r>
              <a:rPr lang="en-US" sz="2400" b="1" i="0" u="none" strike="noStrike" cap="none">
                <a:solidFill>
                  <a:srgbClr val="58A6FF"/>
                </a:solidFill>
                <a:latin typeface="Inter"/>
                <a:ea typeface="Inter"/>
                <a:cs typeface="Inter"/>
                <a:sym typeface="Inter"/>
              </a:rPr>
              <a:t>za</a:t>
            </a:r>
            <a:r>
              <a:rPr lang="en-US" sz="2400" b="1">
                <a:solidFill>
                  <a:srgbClr val="58A6FF"/>
                </a:solidFill>
                <a:latin typeface="Inter"/>
                <a:ea typeface="Inter"/>
                <a:cs typeface="Inter"/>
                <a:sym typeface="Inter"/>
              </a:rPr>
              <a:t>r</a:t>
            </a:r>
            <a:r>
              <a:rPr lang="en-US" sz="2400" b="1" i="0" u="none" strike="noStrike" cap="none">
                <a:solidFill>
                  <a:srgbClr val="58A6FF"/>
                </a:solidFill>
                <a:latin typeface="Inter"/>
                <a:ea typeface="Inter"/>
                <a:cs typeface="Inter"/>
                <a:sym typeface="Inter"/>
              </a:rPr>
              <a:t> (Pull)</a:t>
            </a:r>
            <a:endParaRPr/>
          </a:p>
        </p:txBody>
      </p:sp>
      <p:sp>
        <p:nvSpPr>
          <p:cNvPr id="166" name="Google Shape;166;p21"/>
          <p:cNvSpPr txBox="1"/>
          <p:nvPr/>
        </p:nvSpPr>
        <p:spPr>
          <a:xfrm>
            <a:off x="6381750" y="3027908"/>
            <a:ext cx="522922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Trae los </a:t>
            </a:r>
            <a:r>
              <a:rPr lang="en-US" sz="1800" b="0" i="0" u="none" strike="noStrike" cap="none" dirty="0" err="1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últimos</a:t>
            </a:r>
            <a:r>
              <a:rPr lang="en-US" sz="1800" b="0" i="0" u="none" strike="noStrike" cap="none" dirty="0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 cambios de la </a:t>
            </a:r>
            <a:r>
              <a:rPr lang="en-US" sz="1800" b="0" i="0" u="none" strike="noStrike" cap="none" dirty="0" err="1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nube</a:t>
            </a:r>
            <a:r>
              <a:rPr lang="en-US" sz="1800" b="0" i="0" u="none" strike="noStrike" cap="none" dirty="0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 a </a:t>
            </a:r>
            <a:r>
              <a:rPr lang="en-US" sz="1800" b="0" i="0" u="none" strike="noStrike" cap="none" dirty="0" err="1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tu</a:t>
            </a:r>
            <a:r>
              <a:rPr lang="en-US" sz="1800" b="0" i="0" u="none" strike="noStrike" cap="none" dirty="0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 b="0" i="0" u="none" strike="noStrike" cap="none" dirty="0" err="1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computadora</a:t>
            </a:r>
            <a:r>
              <a:rPr lang="en-US" sz="1800" b="0" i="0" u="none" strike="noStrike" cap="none" dirty="0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sp>
        <p:nvSpPr>
          <p:cNvPr id="167" name="Google Shape;167;p21"/>
          <p:cNvSpPr txBox="1"/>
          <p:nvPr/>
        </p:nvSpPr>
        <p:spPr>
          <a:xfrm>
            <a:off x="6381750" y="3942308"/>
            <a:ext cx="522922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Es vital hacerlo antes de empezar a trabajar.</a:t>
            </a:r>
            <a:endParaRPr/>
          </a:p>
        </p:txBody>
      </p:sp>
      <p:pic>
        <p:nvPicPr>
          <p:cNvPr id="168" name="Google Shape;168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1025" y="2343824"/>
            <a:ext cx="5185000" cy="2922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1063" y="3853933"/>
            <a:ext cx="5229225" cy="752475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22"/>
          <p:cNvSpPr txBox="1"/>
          <p:nvPr/>
        </p:nvSpPr>
        <p:spPr>
          <a:xfrm>
            <a:off x="581025" y="581025"/>
            <a:ext cx="11581447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Sincronizar: Subir</a:t>
            </a:r>
            <a:endParaRPr/>
          </a:p>
        </p:txBody>
      </p:sp>
      <p:sp>
        <p:nvSpPr>
          <p:cNvPr id="175" name="Google Shape;175;p22"/>
          <p:cNvSpPr txBox="1"/>
          <p:nvPr/>
        </p:nvSpPr>
        <p:spPr>
          <a:xfrm>
            <a:off x="581025" y="2635597"/>
            <a:ext cx="5490686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58A6FF"/>
                </a:solidFill>
                <a:latin typeface="Inter"/>
                <a:ea typeface="Inter"/>
                <a:cs typeface="Inter"/>
                <a:sym typeface="Inter"/>
              </a:rPr>
              <a:t>Publicar (Push)</a:t>
            </a:r>
            <a:endParaRPr/>
          </a:p>
        </p:txBody>
      </p:sp>
      <p:sp>
        <p:nvSpPr>
          <p:cNvPr id="176" name="Google Shape;176;p22"/>
          <p:cNvSpPr txBox="1"/>
          <p:nvPr/>
        </p:nvSpPr>
        <p:spPr>
          <a:xfrm>
            <a:off x="581025" y="3199358"/>
            <a:ext cx="52293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Env</a:t>
            </a:r>
            <a:r>
              <a:rPr lang="en-US" sz="1800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iá</a:t>
            </a:r>
            <a:r>
              <a:rPr lang="en-US" sz="1800" b="0" i="0" u="none" strike="noStrike" cap="none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 tus "commits" locales al servidor remoto.</a:t>
            </a:r>
            <a:endParaRPr/>
          </a:p>
        </p:txBody>
      </p:sp>
      <p:pic>
        <p:nvPicPr>
          <p:cNvPr id="177" name="Google Shape;177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483965"/>
            <a:ext cx="5229225" cy="476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1525" y="4555777"/>
            <a:ext cx="4562475" cy="752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9525"/>
            <a:ext cx="6086475" cy="683895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3"/>
          <p:cNvSpPr txBox="1"/>
          <p:nvPr/>
        </p:nvSpPr>
        <p:spPr>
          <a:xfrm>
            <a:off x="771524" y="1549747"/>
            <a:ext cx="5181219" cy="7109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 dirty="0" err="1">
                <a:solidFill>
                  <a:srgbClr val="FF7B72"/>
                </a:solidFill>
                <a:latin typeface="Inter"/>
                <a:ea typeface="Inter"/>
                <a:cs typeface="Inter"/>
                <a:sym typeface="Inter"/>
              </a:rPr>
              <a:t>Restablecer</a:t>
            </a:r>
            <a:r>
              <a:rPr lang="en-US" sz="4200" b="1" i="0" u="none" strike="noStrike" cap="none" dirty="0">
                <a:solidFill>
                  <a:srgbClr val="FF7B72"/>
                </a:solidFill>
                <a:latin typeface="Inter"/>
                <a:ea typeface="Inter"/>
                <a:cs typeface="Inter"/>
                <a:sym typeface="Inter"/>
              </a:rPr>
              <a:t> (Reset)</a:t>
            </a:r>
            <a:endParaRPr dirty="0"/>
          </a:p>
        </p:txBody>
      </p:sp>
      <p:sp>
        <p:nvSpPr>
          <p:cNvPr id="185" name="Google Shape;185;p23"/>
          <p:cNvSpPr txBox="1"/>
          <p:nvPr/>
        </p:nvSpPr>
        <p:spPr>
          <a:xfrm>
            <a:off x="771525" y="2650777"/>
            <a:ext cx="45624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 err="1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Volvé</a:t>
            </a:r>
            <a:r>
              <a:rPr lang="en-US" sz="1800" dirty="0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 b="0" i="0" u="none" strike="noStrike" cap="none" dirty="0" err="1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atrás</a:t>
            </a:r>
            <a:r>
              <a:rPr lang="en-US" sz="1800" b="0" i="0" u="none" strike="noStrike" cap="none" dirty="0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 en el </a:t>
            </a:r>
            <a:r>
              <a:rPr lang="en-US" sz="1800" b="0" i="0" u="none" strike="noStrike" cap="none" dirty="0" err="1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tiempo</a:t>
            </a:r>
            <a:r>
              <a:rPr lang="en-US" sz="1800" b="0" i="0" u="none" strike="noStrike" cap="none" dirty="0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sp>
        <p:nvSpPr>
          <p:cNvPr id="186" name="Google Shape;186;p23"/>
          <p:cNvSpPr txBox="1"/>
          <p:nvPr/>
        </p:nvSpPr>
        <p:spPr>
          <a:xfrm>
            <a:off x="771525" y="3450877"/>
            <a:ext cx="45624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Útil para errores graves, pero </a:t>
            </a:r>
            <a:r>
              <a:rPr lang="en-US" sz="1800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hay que usarlo </a:t>
            </a:r>
            <a:r>
              <a:rPr lang="en-US" sz="1800" b="0" i="0" u="none" strike="noStrike" cap="none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con precaución.</a:t>
            </a:r>
            <a:endParaRPr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D130C471-16B5-0381-5D54-6F96CF8FB68B}"/>
              </a:ext>
            </a:extLst>
          </p:cNvPr>
          <p:cNvSpPr txBox="1"/>
          <p:nvPr/>
        </p:nvSpPr>
        <p:spPr>
          <a:xfrm>
            <a:off x="771524" y="5421184"/>
            <a:ext cx="5791200" cy="377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b="0" i="0" u="none" strike="noStrike" cap="none" dirty="0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* También puede usarse git </a:t>
            </a:r>
            <a:r>
              <a:rPr lang="es-ES" sz="1400" b="0" i="0" u="none" strike="noStrike" cap="none" dirty="0" err="1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reset</a:t>
            </a:r>
            <a:r>
              <a:rPr lang="es-ES" sz="1400" b="0" i="0" u="none" strike="noStrike" cap="none" dirty="0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 --</a:t>
            </a:r>
            <a:r>
              <a:rPr lang="es-ES" sz="1400" b="0" i="0" u="none" strike="noStrike" cap="none" dirty="0" err="1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soft</a:t>
            </a:r>
            <a:r>
              <a:rPr lang="es-ES" dirty="0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lang="es-E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4"/>
          <p:cNvSpPr txBox="1"/>
          <p:nvPr/>
        </p:nvSpPr>
        <p:spPr>
          <a:xfrm>
            <a:off x="305276" y="2295525"/>
            <a:ext cx="11581447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58A6FF"/>
                </a:solidFill>
                <a:latin typeface="Inter"/>
                <a:ea typeface="Inter"/>
                <a:cs typeface="Inter"/>
                <a:sym typeface="Inter"/>
              </a:rPr>
              <a:t>¿Preguntas?</a:t>
            </a:r>
            <a:endParaRPr/>
          </a:p>
        </p:txBody>
      </p:sp>
      <p:sp>
        <p:nvSpPr>
          <p:cNvPr id="192" name="Google Shape;192;p24"/>
          <p:cNvSpPr txBox="1"/>
          <p:nvPr/>
        </p:nvSpPr>
        <p:spPr>
          <a:xfrm>
            <a:off x="580950" y="3720275"/>
            <a:ext cx="110301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0005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C9D1D9"/>
                </a:solidFill>
                <a:latin typeface="Inter"/>
                <a:ea typeface="Inter"/>
                <a:cs typeface="Inter"/>
                <a:sym typeface="Inter"/>
              </a:rPr>
              <a:t>git --help</a:t>
            </a:r>
            <a:endParaRPr/>
          </a:p>
        </p:txBody>
      </p:sp>
      <p:pic>
        <p:nvPicPr>
          <p:cNvPr id="193" name="Google Shape;193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67250" y="3748850"/>
            <a:ext cx="304800" cy="26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268</Words>
  <Application>Microsoft Office PowerPoint</Application>
  <PresentationFormat>Panorámica</PresentationFormat>
  <Paragraphs>39</Paragraphs>
  <Slides>12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6" baseType="lpstr">
      <vt:lpstr>Inter</vt:lpstr>
      <vt:lpstr>Calibri</vt:lpstr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Cris Lomas</cp:lastModifiedBy>
  <cp:revision>2</cp:revision>
  <dcterms:modified xsi:type="dcterms:W3CDTF">2025-11-22T13:56:14Z</dcterms:modified>
</cp:coreProperties>
</file>